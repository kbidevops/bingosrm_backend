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87" r:id="rId5"/>
    <p:sldId id="286" r:id="rId6"/>
    <p:sldId id="260" r:id="rId7"/>
    <p:sldId id="289" r:id="rId8"/>
    <p:sldId id="288" r:id="rId9"/>
    <p:sldId id="290" r:id="rId10"/>
    <p:sldId id="296" r:id="rId11"/>
    <p:sldId id="297" r:id="rId12"/>
    <p:sldId id="298" r:id="rId13"/>
    <p:sldId id="299" r:id="rId14"/>
    <p:sldId id="291" r:id="rId15"/>
    <p:sldId id="292" r:id="rId16"/>
    <p:sldId id="293" r:id="rId17"/>
    <p:sldId id="300" r:id="rId18"/>
    <p:sldId id="301" r:id="rId19"/>
    <p:sldId id="294" r:id="rId20"/>
    <p:sldId id="295" r:id="rId21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560" y="-2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9AE30-00D0-43CF-9B2E-0AEE74183DE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DCE10-7648-4FEE-92EE-D641CFC89C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98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7347" y="873252"/>
            <a:ext cx="6646545" cy="7731759"/>
          </a:xfrm>
          <a:custGeom>
            <a:avLst/>
            <a:gdLst/>
            <a:ahLst/>
            <a:cxnLst/>
            <a:rect l="l" t="t" r="r" b="b"/>
            <a:pathLst>
              <a:path w="6646545" h="7731759">
                <a:moveTo>
                  <a:pt x="0" y="7731252"/>
                </a:moveTo>
                <a:lnTo>
                  <a:pt x="6646164" y="7731252"/>
                </a:lnTo>
                <a:lnTo>
                  <a:pt x="6646164" y="0"/>
                </a:lnTo>
                <a:lnTo>
                  <a:pt x="0" y="0"/>
                </a:lnTo>
                <a:lnTo>
                  <a:pt x="0" y="7731252"/>
                </a:lnTo>
                <a:close/>
              </a:path>
            </a:pathLst>
          </a:custGeom>
          <a:ln w="31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487" y="157352"/>
            <a:ext cx="336265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432302" y="8731039"/>
            <a:ext cx="256539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7827" y="8697488"/>
            <a:ext cx="859112" cy="310389"/>
          </a:xfrm>
          <a:prstGeom prst="rect">
            <a:avLst/>
          </a:prstGeom>
        </p:spPr>
      </p:pic>
      <p:grpSp>
        <p:nvGrpSpPr>
          <p:cNvPr id="10" name="그룹 9"/>
          <p:cNvGrpSpPr/>
          <p:nvPr userDrawn="1"/>
        </p:nvGrpSpPr>
        <p:grpSpPr>
          <a:xfrm>
            <a:off x="0" y="649649"/>
            <a:ext cx="6853174" cy="49103"/>
            <a:chOff x="0" y="649649"/>
            <a:chExt cx="6853174" cy="49103"/>
          </a:xfrm>
        </p:grpSpPr>
        <p:sp>
          <p:nvSpPr>
            <p:cNvPr id="11" name="object 5"/>
            <p:cNvSpPr/>
            <p:nvPr/>
          </p:nvSpPr>
          <p:spPr>
            <a:xfrm>
              <a:off x="0" y="652272"/>
              <a:ext cx="1440180" cy="45720"/>
            </a:xfrm>
            <a:custGeom>
              <a:avLst/>
              <a:gdLst/>
              <a:ahLst/>
              <a:cxnLst/>
              <a:rect l="l" t="t" r="r" b="b"/>
              <a:pathLst>
                <a:path w="1440180" h="45720">
                  <a:moveTo>
                    <a:pt x="144018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440180" y="45720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/>
            <p:cNvSpPr/>
            <p:nvPr/>
          </p:nvSpPr>
          <p:spPr>
            <a:xfrm>
              <a:off x="1403603" y="652272"/>
              <a:ext cx="2161540" cy="45720"/>
            </a:xfrm>
            <a:custGeom>
              <a:avLst/>
              <a:gdLst/>
              <a:ahLst/>
              <a:cxnLst/>
              <a:rect l="l" t="t" r="r" b="b"/>
              <a:pathLst>
                <a:path w="2161540" h="45720">
                  <a:moveTo>
                    <a:pt x="2161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161032" y="45720"/>
                  </a:lnTo>
                  <a:lnTo>
                    <a:pt x="2161032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7"/>
            <p:cNvSpPr/>
            <p:nvPr/>
          </p:nvSpPr>
          <p:spPr>
            <a:xfrm flipV="1">
              <a:off x="3541014" y="649649"/>
              <a:ext cx="3312160" cy="45719"/>
            </a:xfrm>
            <a:custGeom>
              <a:avLst/>
              <a:gdLst/>
              <a:ahLst/>
              <a:cxnLst/>
              <a:rect l="l" t="t" r="r" b="b"/>
              <a:pathLst>
                <a:path w="3312159" h="45720">
                  <a:moveTo>
                    <a:pt x="331165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311651" y="45720"/>
                  </a:lnTo>
                  <a:lnTo>
                    <a:pt x="3311651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8"/>
            <p:cNvSpPr/>
            <p:nvPr/>
          </p:nvSpPr>
          <p:spPr>
            <a:xfrm>
              <a:off x="3541014" y="653033"/>
              <a:ext cx="3312160" cy="45719"/>
            </a:xfrm>
            <a:custGeom>
              <a:avLst/>
              <a:gdLst/>
              <a:ahLst/>
              <a:cxnLst/>
              <a:rect l="l" t="t" r="r" b="b"/>
              <a:pathLst>
                <a:path w="3312159" h="45720">
                  <a:moveTo>
                    <a:pt x="0" y="45720"/>
                  </a:moveTo>
                  <a:lnTo>
                    <a:pt x="3311651" y="45720"/>
                  </a:lnTo>
                  <a:lnTo>
                    <a:pt x="331165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14800" y="1526539"/>
            <a:ext cx="227609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800" b="1" spc="-25" dirty="0">
                <a:latin typeface="Malgun Gothic"/>
                <a:cs typeface="Malgun Gothic"/>
              </a:rPr>
              <a:t>사용자</a:t>
            </a:r>
            <a:r>
              <a:rPr lang="en-US" sz="2800" b="1" spc="-25" dirty="0">
                <a:latin typeface="Malgun Gothic"/>
                <a:cs typeface="Malgun Gothic"/>
              </a:rPr>
              <a:t> </a:t>
            </a:r>
            <a:r>
              <a:rPr sz="2800" b="1" spc="-25" dirty="0" err="1">
                <a:latin typeface="Malgun Gothic"/>
                <a:cs typeface="Malgun Gothic"/>
              </a:rPr>
              <a:t>메뉴얼</a:t>
            </a:r>
            <a:endParaRPr sz="28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21377" y="3634232"/>
            <a:ext cx="1470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Version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1.</a:t>
            </a:r>
            <a:r>
              <a:rPr lang="en-US" sz="2400" b="1" spc="-25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0541" y="4558410"/>
            <a:ext cx="3098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Malgun Gothic"/>
                <a:cs typeface="Malgun Gothic"/>
              </a:rPr>
              <a:t>문서번호</a:t>
            </a:r>
            <a:r>
              <a:rPr sz="1400" b="1" spc="-15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Arial"/>
                <a:cs typeface="Arial"/>
              </a:rPr>
              <a:t>: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ITSM_</a:t>
            </a:r>
            <a:r>
              <a:rPr sz="1400" b="1" spc="-10" dirty="0">
                <a:latin typeface="Malgun Gothic"/>
                <a:cs typeface="Malgun Gothic"/>
              </a:rPr>
              <a:t>메뉴얼</a:t>
            </a:r>
            <a:r>
              <a:rPr sz="1400" b="1" spc="-10" dirty="0">
                <a:latin typeface="Arial"/>
                <a:cs typeface="Arial"/>
              </a:rPr>
              <a:t>(</a:t>
            </a:r>
            <a:r>
              <a:rPr sz="1400" b="1" spc="-10" dirty="0" err="1">
                <a:latin typeface="Malgun Gothic"/>
                <a:cs typeface="Malgun Gothic"/>
              </a:rPr>
              <a:t>시스템</a:t>
            </a:r>
            <a:r>
              <a:rPr lang="ko-KR" altLang="en-US" sz="1400" b="1" spc="-10" dirty="0">
                <a:latin typeface="Malgun Gothic"/>
                <a:cs typeface="Malgun Gothic"/>
              </a:rPr>
              <a:t>사용자</a:t>
            </a:r>
            <a:r>
              <a:rPr sz="1400" b="1" spc="-10" dirty="0"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81400" y="2216023"/>
            <a:ext cx="281482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800" b="1" spc="-25" dirty="0" err="1"/>
              <a:t>코레일테크</a:t>
            </a:r>
            <a:r>
              <a:rPr sz="2800" b="1" spc="-220" dirty="0">
                <a:latin typeface="Malgun Gothic"/>
                <a:cs typeface="Malgun Gothic"/>
              </a:rPr>
              <a:t> </a:t>
            </a:r>
            <a:r>
              <a:rPr sz="2800" b="1" spc="-50" dirty="0">
                <a:latin typeface="Arial"/>
                <a:cs typeface="Arial"/>
              </a:rPr>
              <a:t>ITSM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2000"/>
            <a:ext cx="147637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19398" y="8899956"/>
            <a:ext cx="2184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ahoma"/>
                <a:cs typeface="Tahoma"/>
              </a:rPr>
              <a:t>-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2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-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3568" y="569912"/>
            <a:ext cx="10210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Malgun Gothic"/>
                <a:cs typeface="Malgun Gothic"/>
              </a:rPr>
              <a:t>제</a:t>
            </a:r>
            <a:r>
              <a:rPr sz="1400" b="1" dirty="0">
                <a:latin typeface="Arial"/>
                <a:cs typeface="Arial"/>
              </a:rPr>
              <a:t>.</a:t>
            </a:r>
            <a:r>
              <a:rPr sz="1400" b="1" dirty="0">
                <a:latin typeface="Malgun Gothic"/>
                <a:cs typeface="Malgun Gothic"/>
              </a:rPr>
              <a:t>개정</a:t>
            </a:r>
            <a:r>
              <a:rPr sz="1400" b="1" spc="-5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이력</a:t>
            </a:r>
            <a:endParaRPr sz="1400" dirty="0">
              <a:latin typeface="Malgun Gothic"/>
              <a:cs typeface="Malgun Gothic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560929"/>
              </p:ext>
            </p:extLst>
          </p:nvPr>
        </p:nvGraphicFramePr>
        <p:xfrm>
          <a:off x="533400" y="1066800"/>
          <a:ext cx="5657215" cy="291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spc="-20" dirty="0">
                          <a:latin typeface="Batang"/>
                          <a:cs typeface="Batang"/>
                        </a:rPr>
                        <a:t>개정번호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dirty="0">
                          <a:latin typeface="Batang"/>
                          <a:cs typeface="Batang"/>
                        </a:rPr>
                        <a:t>제.개정</a:t>
                      </a:r>
                      <a:r>
                        <a:rPr sz="1000" spc="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1000" dirty="0">
                          <a:latin typeface="Batang"/>
                          <a:cs typeface="Batang"/>
                        </a:rPr>
                        <a:t>페이지</a:t>
                      </a:r>
                      <a:r>
                        <a:rPr sz="1000" spc="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1000" dirty="0">
                          <a:latin typeface="Batang"/>
                          <a:cs typeface="Batang"/>
                        </a:rPr>
                        <a:t>및</a:t>
                      </a:r>
                      <a:r>
                        <a:rPr sz="1000" spc="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1000" spc="-25" dirty="0">
                          <a:latin typeface="Batang"/>
                          <a:cs typeface="Batang"/>
                        </a:rPr>
                        <a:t>내용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dirty="0">
                          <a:latin typeface="Batang"/>
                          <a:cs typeface="Batang"/>
                        </a:rPr>
                        <a:t>제.개정</a:t>
                      </a:r>
                      <a:r>
                        <a:rPr sz="1000" spc="2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1000" spc="-25" dirty="0">
                          <a:latin typeface="Batang"/>
                          <a:cs typeface="Batang"/>
                        </a:rPr>
                        <a:t>일자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spc="-25" dirty="0">
                          <a:latin typeface="Batang"/>
                          <a:cs typeface="Batang"/>
                        </a:rPr>
                        <a:t>1.0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spc="-25" dirty="0">
                          <a:latin typeface="Batang"/>
                          <a:cs typeface="Batang"/>
                        </a:rPr>
                        <a:t>제정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spc="-10" dirty="0">
                          <a:latin typeface="Batang"/>
                          <a:cs typeface="Batang"/>
                        </a:rPr>
                        <a:t>202</a:t>
                      </a:r>
                      <a:r>
                        <a:rPr lang="en-US" sz="1000" spc="-10" dirty="0">
                          <a:latin typeface="Batang"/>
                          <a:cs typeface="Batang"/>
                        </a:rPr>
                        <a:t>5</a:t>
                      </a:r>
                      <a:r>
                        <a:rPr sz="1000" spc="-10" dirty="0">
                          <a:latin typeface="Batang"/>
                          <a:cs typeface="Batang"/>
                        </a:rPr>
                        <a:t>/</a:t>
                      </a:r>
                      <a:r>
                        <a:rPr lang="en-US" sz="1000" spc="-10" dirty="0">
                          <a:latin typeface="Batang"/>
                          <a:cs typeface="Batang"/>
                        </a:rPr>
                        <a:t>1</a:t>
                      </a:r>
                      <a:r>
                        <a:rPr sz="1000" spc="-10" dirty="0">
                          <a:latin typeface="Batang"/>
                          <a:cs typeface="Batang"/>
                        </a:rPr>
                        <a:t>2/10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spc="-25" dirty="0">
                          <a:latin typeface="Batang"/>
                          <a:cs typeface="Batang"/>
                        </a:rPr>
                        <a:t>1.</a:t>
                      </a:r>
                      <a:r>
                        <a:rPr lang="en-US" sz="1000" spc="-25" dirty="0">
                          <a:latin typeface="Batang"/>
                          <a:cs typeface="Batang"/>
                        </a:rPr>
                        <a:t>1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lang="ko-KR" altLang="en-US" sz="1000" spc="-25" dirty="0">
                          <a:latin typeface="Batang"/>
                          <a:cs typeface="Batang"/>
                        </a:rPr>
                        <a:t>개</a:t>
                      </a:r>
                      <a:r>
                        <a:rPr sz="1000" spc="-25" dirty="0">
                          <a:latin typeface="Batang"/>
                          <a:cs typeface="Batang"/>
                        </a:rPr>
                        <a:t>정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spc="-10" dirty="0">
                          <a:latin typeface="Batang"/>
                          <a:cs typeface="Batang"/>
                        </a:rPr>
                        <a:t>202</a:t>
                      </a:r>
                      <a:r>
                        <a:rPr lang="en-US" sz="1000" spc="-10" dirty="0">
                          <a:latin typeface="Batang"/>
                          <a:cs typeface="Batang"/>
                        </a:rPr>
                        <a:t>5</a:t>
                      </a:r>
                      <a:r>
                        <a:rPr sz="1000" spc="-10" dirty="0">
                          <a:latin typeface="Batang"/>
                          <a:cs typeface="Batang"/>
                        </a:rPr>
                        <a:t>/</a:t>
                      </a:r>
                      <a:r>
                        <a:rPr lang="en-US" sz="1000" spc="-10" dirty="0">
                          <a:latin typeface="Batang"/>
                          <a:cs typeface="Batang"/>
                        </a:rPr>
                        <a:t>1</a:t>
                      </a:r>
                      <a:r>
                        <a:rPr sz="1000" spc="-10" dirty="0">
                          <a:latin typeface="Batang"/>
                          <a:cs typeface="Batang"/>
                        </a:rPr>
                        <a:t>2/</a:t>
                      </a:r>
                      <a:r>
                        <a:rPr lang="en-US" sz="1000" spc="-10" dirty="0">
                          <a:latin typeface="Batang"/>
                          <a:cs typeface="Batang"/>
                        </a:rPr>
                        <a:t>23</a:t>
                      </a: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00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00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000" dirty="0">
                        <a:latin typeface="Batang"/>
                        <a:cs typeface="Batang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7800" y="986484"/>
            <a:ext cx="1760220" cy="66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b="1" dirty="0">
                <a:latin typeface="Malgun Gothic"/>
                <a:cs typeface="Malgun Gothic"/>
              </a:rPr>
              <a:t>1</a:t>
            </a:r>
            <a:r>
              <a:rPr sz="1600" b="1" dirty="0">
                <a:latin typeface="Malgun Gothic"/>
                <a:cs typeface="Malgun Gothic"/>
              </a:rPr>
              <a:t>.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lang="ko-KR" altLang="en-US" sz="1600" b="1" spc="-20" dirty="0">
                <a:latin typeface="Malgun Gothic"/>
                <a:cs typeface="Malgun Gothic"/>
              </a:rPr>
              <a:t>서비스 개요</a:t>
            </a:r>
            <a:endParaRPr sz="1600" dirty="0">
              <a:latin typeface="Malgun Gothic"/>
              <a:cs typeface="Malgun Gothic"/>
            </a:endParaRPr>
          </a:p>
          <a:p>
            <a:pPr marL="242570">
              <a:lnSpc>
                <a:spcPct val="100000"/>
              </a:lnSpc>
              <a:spcBef>
                <a:spcPts val="1400"/>
              </a:spcBef>
            </a:pPr>
            <a:r>
              <a:rPr lang="en-US" sz="1400" b="1" dirty="0">
                <a:solidFill>
                  <a:srgbClr val="252525"/>
                </a:solidFill>
                <a:latin typeface="Malgun Gothic"/>
                <a:cs typeface="Malgun Gothic"/>
              </a:rPr>
              <a:t>ITSM</a:t>
            </a:r>
            <a:r>
              <a:rPr lang="ko-KR" altLang="en-US" sz="1400" b="1" dirty="0">
                <a:solidFill>
                  <a:srgbClr val="252525"/>
                </a:solidFill>
                <a:latin typeface="Malgun Gothic"/>
                <a:cs typeface="Malgun Gothic"/>
              </a:rPr>
              <a:t>이란</a:t>
            </a:r>
            <a:r>
              <a:rPr lang="en-US" altLang="ko-KR" sz="1400" b="1" dirty="0">
                <a:solidFill>
                  <a:srgbClr val="252525"/>
                </a:solidFill>
                <a:latin typeface="Malgun Gothic"/>
                <a:cs typeface="Malgun Gothic"/>
              </a:rPr>
              <a:t>?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3275" y="1403603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4">
                <a:moveTo>
                  <a:pt x="0" y="0"/>
                </a:moveTo>
                <a:lnTo>
                  <a:pt x="0" y="216026"/>
                </a:lnTo>
              </a:path>
            </a:pathLst>
          </a:custGeom>
          <a:ln w="571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8374" y="4248794"/>
            <a:ext cx="6440805" cy="350520"/>
          </a:xfrm>
          <a:custGeom>
            <a:avLst/>
            <a:gdLst/>
            <a:ahLst/>
            <a:cxnLst/>
            <a:rect l="l" t="t" r="r" b="b"/>
            <a:pathLst>
              <a:path w="6440805" h="350520">
                <a:moveTo>
                  <a:pt x="6440423" y="0"/>
                </a:moveTo>
                <a:lnTo>
                  <a:pt x="0" y="0"/>
                </a:lnTo>
                <a:lnTo>
                  <a:pt x="0" y="350519"/>
                </a:lnTo>
                <a:lnTo>
                  <a:pt x="6440423" y="350519"/>
                </a:lnTo>
                <a:lnTo>
                  <a:pt x="644042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4195" y="4318389"/>
            <a:ext cx="45046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indent="-2279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72415" algn="l"/>
              </a:tabLst>
            </a:pPr>
            <a:r>
              <a:rPr lang="ko-KR" altLang="en-US"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서비스 절차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grpSp>
        <p:nvGrpSpPr>
          <p:cNvPr id="18" name="object 10"/>
          <p:cNvGrpSpPr/>
          <p:nvPr/>
        </p:nvGrpSpPr>
        <p:grpSpPr>
          <a:xfrm>
            <a:off x="114808" y="1741879"/>
            <a:ext cx="6542405" cy="2449121"/>
            <a:chOff x="140207" y="1320038"/>
            <a:chExt cx="6542405" cy="2486660"/>
          </a:xfrm>
        </p:grpSpPr>
        <p:sp>
          <p:nvSpPr>
            <p:cNvPr id="19" name="object 11"/>
            <p:cNvSpPr/>
            <p:nvPr/>
          </p:nvSpPr>
          <p:spPr>
            <a:xfrm>
              <a:off x="249173" y="1332738"/>
              <a:ext cx="6421120" cy="2204085"/>
            </a:xfrm>
            <a:custGeom>
              <a:avLst/>
              <a:gdLst/>
              <a:ahLst/>
              <a:cxnLst/>
              <a:rect l="l" t="t" r="r" b="b"/>
              <a:pathLst>
                <a:path w="6421120" h="2204085">
                  <a:moveTo>
                    <a:pt x="0" y="13080"/>
                  </a:moveTo>
                  <a:lnTo>
                    <a:pt x="0" y="5841"/>
                  </a:lnTo>
                  <a:lnTo>
                    <a:pt x="5854" y="0"/>
                  </a:lnTo>
                  <a:lnTo>
                    <a:pt x="13068" y="0"/>
                  </a:lnTo>
                  <a:lnTo>
                    <a:pt x="6407531" y="0"/>
                  </a:lnTo>
                  <a:lnTo>
                    <a:pt x="6414770" y="0"/>
                  </a:lnTo>
                  <a:lnTo>
                    <a:pt x="6420611" y="5841"/>
                  </a:lnTo>
                  <a:lnTo>
                    <a:pt x="6420611" y="13080"/>
                  </a:lnTo>
                  <a:lnTo>
                    <a:pt x="6420611" y="2190622"/>
                  </a:lnTo>
                  <a:lnTo>
                    <a:pt x="6420611" y="2197861"/>
                  </a:lnTo>
                  <a:lnTo>
                    <a:pt x="6414770" y="2203703"/>
                  </a:lnTo>
                  <a:lnTo>
                    <a:pt x="6407531" y="2203703"/>
                  </a:lnTo>
                  <a:lnTo>
                    <a:pt x="13068" y="2203703"/>
                  </a:lnTo>
                  <a:lnTo>
                    <a:pt x="5854" y="2203703"/>
                  </a:lnTo>
                  <a:lnTo>
                    <a:pt x="0" y="2197861"/>
                  </a:lnTo>
                  <a:lnTo>
                    <a:pt x="0" y="2190622"/>
                  </a:lnTo>
                  <a:lnTo>
                    <a:pt x="0" y="13080"/>
                  </a:lnTo>
                  <a:close/>
                </a:path>
              </a:pathLst>
            </a:custGeom>
            <a:ln w="253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728" y="1933956"/>
              <a:ext cx="950213" cy="1872234"/>
            </a:xfrm>
            <a:prstGeom prst="rect">
              <a:avLst/>
            </a:prstGeom>
          </p:spPr>
        </p:pic>
        <p:sp>
          <p:nvSpPr>
            <p:cNvPr id="21" name="object 13"/>
            <p:cNvSpPr/>
            <p:nvPr/>
          </p:nvSpPr>
          <p:spPr>
            <a:xfrm>
              <a:off x="140208" y="1392935"/>
              <a:ext cx="1560830" cy="419100"/>
            </a:xfrm>
            <a:custGeom>
              <a:avLst/>
              <a:gdLst/>
              <a:ahLst/>
              <a:cxnLst/>
              <a:rect l="l" t="t" r="r" b="b"/>
              <a:pathLst>
                <a:path w="1560830" h="419100">
                  <a:moveTo>
                    <a:pt x="1560576" y="239268"/>
                  </a:moveTo>
                  <a:lnTo>
                    <a:pt x="1380744" y="59436"/>
                  </a:lnTo>
                  <a:lnTo>
                    <a:pt x="108204" y="59436"/>
                  </a:lnTo>
                  <a:lnTo>
                    <a:pt x="108204" y="0"/>
                  </a:lnTo>
                  <a:lnTo>
                    <a:pt x="20281" y="59436"/>
                  </a:lnTo>
                  <a:lnTo>
                    <a:pt x="12192" y="59436"/>
                  </a:lnTo>
                  <a:lnTo>
                    <a:pt x="12192" y="64909"/>
                  </a:lnTo>
                  <a:lnTo>
                    <a:pt x="0" y="73152"/>
                  </a:lnTo>
                  <a:lnTo>
                    <a:pt x="12192" y="73152"/>
                  </a:lnTo>
                  <a:lnTo>
                    <a:pt x="12192" y="419100"/>
                  </a:lnTo>
                  <a:lnTo>
                    <a:pt x="1380744" y="419100"/>
                  </a:lnTo>
                  <a:lnTo>
                    <a:pt x="1560576" y="239268"/>
                  </a:lnTo>
                  <a:close/>
                </a:path>
              </a:pathLst>
            </a:custGeom>
            <a:solidFill>
              <a:srgbClr val="FF80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4"/>
          <p:cNvSpPr txBox="1"/>
          <p:nvPr/>
        </p:nvSpPr>
        <p:spPr>
          <a:xfrm>
            <a:off x="303339" y="1848643"/>
            <a:ext cx="6257925" cy="152844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서비스</a:t>
            </a:r>
            <a:r>
              <a:rPr sz="16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소개</a:t>
            </a:r>
            <a:endParaRPr sz="1600" dirty="0">
              <a:latin typeface="Malgun Gothic"/>
              <a:cs typeface="Malgun Gothic"/>
            </a:endParaRPr>
          </a:p>
          <a:p>
            <a:pPr marL="1337945">
              <a:lnSpc>
                <a:spcPct val="100000"/>
              </a:lnSpc>
              <a:spcBef>
                <a:spcPts val="590"/>
              </a:spcBef>
            </a:pP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ITSM이란?</a:t>
            </a:r>
            <a:endParaRPr sz="1400" dirty="0">
              <a:latin typeface="Malgun Gothic"/>
              <a:cs typeface="Malgun Gothic"/>
            </a:endParaRPr>
          </a:p>
          <a:p>
            <a:pPr marL="1337945" marR="5080">
              <a:lnSpc>
                <a:spcPct val="150000"/>
              </a:lnSpc>
              <a:spcBef>
                <a:spcPts val="5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IT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서비스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관리(IT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Service</a:t>
            </a: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Management)의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약자로,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고객이 SR을 </a:t>
            </a:r>
            <a:r>
              <a:rPr sz="1200" spc="-25" dirty="0">
                <a:solidFill>
                  <a:srgbClr val="252525"/>
                </a:solidFill>
                <a:latin typeface="Malgun Gothic"/>
                <a:cs typeface="Malgun Gothic"/>
              </a:rPr>
              <a:t>요청하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면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solidFill>
                  <a:srgbClr val="252525"/>
                </a:solidFill>
                <a:latin typeface="Malgun Gothic"/>
                <a:cs typeface="Malgun Gothic"/>
              </a:rPr>
              <a:t>담당</a:t>
            </a:r>
            <a:r>
              <a:rPr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자가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실시간으로 모니터링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하면서 더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빠르고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원활하게 고객의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spc="-55" dirty="0">
                <a:solidFill>
                  <a:srgbClr val="252525"/>
                </a:solidFill>
                <a:latin typeface="Malgun Gothic"/>
                <a:cs typeface="Malgun Gothic"/>
              </a:rPr>
              <a:t>요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구사항을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처리할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수 있도록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만든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프로그램입니다.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895224" y="4796516"/>
            <a:ext cx="1415542" cy="410939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SR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요청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546253" y="5416046"/>
            <a:ext cx="1415542" cy="4109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SR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접수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2310766" y="6031011"/>
            <a:ext cx="1415542" cy="4109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+mn-cs"/>
              </a:rPr>
              <a:t>SR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+mn-cs"/>
              </a:rPr>
              <a:t>처리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961795" y="6645976"/>
            <a:ext cx="1415542" cy="410939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SR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검증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3726308" y="7262391"/>
            <a:ext cx="1415542" cy="4109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SR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완료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위로 굽은 화살표 37"/>
          <p:cNvSpPr/>
          <p:nvPr/>
        </p:nvSpPr>
        <p:spPr>
          <a:xfrm rot="5400000">
            <a:off x="1068359" y="5310075"/>
            <a:ext cx="328657" cy="423925"/>
          </a:xfrm>
          <a:prstGeom prst="bentUp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4377337" y="7878806"/>
            <a:ext cx="1415542" cy="410939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SR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평가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위로 굽은 화살표 41"/>
          <p:cNvSpPr/>
          <p:nvPr/>
        </p:nvSpPr>
        <p:spPr>
          <a:xfrm rot="5400000">
            <a:off x="1827529" y="5932647"/>
            <a:ext cx="328657" cy="423925"/>
          </a:xfrm>
          <a:prstGeom prst="bentUp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위로 굽은 화살표 42"/>
          <p:cNvSpPr/>
          <p:nvPr/>
        </p:nvSpPr>
        <p:spPr>
          <a:xfrm rot="5400000">
            <a:off x="2477043" y="6545555"/>
            <a:ext cx="328657" cy="423925"/>
          </a:xfrm>
          <a:prstGeom prst="bentUp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위로 굽은 화살표 43"/>
          <p:cNvSpPr/>
          <p:nvPr/>
        </p:nvSpPr>
        <p:spPr>
          <a:xfrm rot="5400000">
            <a:off x="3241556" y="7159305"/>
            <a:ext cx="328657" cy="423925"/>
          </a:xfrm>
          <a:prstGeom prst="bentUp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위로 굽은 화살표 44"/>
          <p:cNvSpPr/>
          <p:nvPr/>
        </p:nvSpPr>
        <p:spPr>
          <a:xfrm rot="5400000">
            <a:off x="3899442" y="7798046"/>
            <a:ext cx="328657" cy="423925"/>
          </a:xfrm>
          <a:prstGeom prst="bentUp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32664" y="7763399"/>
            <a:ext cx="453136" cy="2376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232664" y="8126609"/>
            <a:ext cx="453136" cy="237602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6088" y="776339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관리자기능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230" y="812660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사용자기능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7800" y="986484"/>
            <a:ext cx="1760220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1600" b="1" dirty="0">
                <a:latin typeface="Malgun Gothic"/>
                <a:cs typeface="Malgun Gothic"/>
              </a:rPr>
              <a:t>가</a:t>
            </a:r>
            <a:r>
              <a:rPr sz="1600" b="1" dirty="0">
                <a:latin typeface="Malgun Gothic"/>
                <a:cs typeface="Malgun Gothic"/>
              </a:rPr>
              <a:t>.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lang="ko-KR" altLang="en-US" sz="1600" b="1" spc="-20" dirty="0">
                <a:latin typeface="Malgun Gothic"/>
                <a:cs typeface="Malgun Gothic"/>
              </a:rPr>
              <a:t>주요기능 설명</a:t>
            </a:r>
            <a:endParaRPr sz="1600" dirty="0">
              <a:latin typeface="Malgun Gothic"/>
              <a:cs typeface="Malgun Gothic"/>
            </a:endParaRPr>
          </a:p>
          <a:p>
            <a:pPr marL="242570">
              <a:lnSpc>
                <a:spcPct val="100000"/>
              </a:lnSpc>
              <a:spcBef>
                <a:spcPts val="1400"/>
              </a:spcBef>
            </a:pPr>
            <a:r>
              <a:rPr lang="ko-KR" altLang="en-US" sz="1400" dirty="0">
                <a:latin typeface="Malgun Gothic"/>
                <a:cs typeface="Malgun Gothic"/>
              </a:rPr>
              <a:t>서비스 설명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3275" y="1403603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4">
                <a:moveTo>
                  <a:pt x="0" y="0"/>
                </a:moveTo>
                <a:lnTo>
                  <a:pt x="0" y="216026"/>
                </a:lnTo>
              </a:path>
            </a:pathLst>
          </a:custGeom>
          <a:ln w="571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405288"/>
              </p:ext>
            </p:extLst>
          </p:nvPr>
        </p:nvGraphicFramePr>
        <p:xfrm>
          <a:off x="533400" y="2145182"/>
          <a:ext cx="5638801" cy="4468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메뉴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비고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SR</a:t>
                      </a:r>
                      <a:r>
                        <a:rPr lang="ko-KR" altLang="en-US" sz="1200" dirty="0"/>
                        <a:t>요청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요청제목과 내용을 기술합니다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요청일은</a:t>
                      </a:r>
                      <a:r>
                        <a:rPr lang="ko-KR" altLang="en-US" sz="1200" dirty="0"/>
                        <a:t> 자동 등록됩니다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SR</a:t>
                      </a:r>
                      <a:r>
                        <a:rPr lang="ko-KR" altLang="en-US" sz="1200" dirty="0"/>
                        <a:t>접수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요청내용을 접수합니다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요청내용에 따라 요청범주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요청구분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변경분류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변경구분을 지정합니다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지정 구분에 따라 처리 담당자가 자동으로 매칭됩니다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SR</a:t>
                      </a:r>
                      <a:r>
                        <a:rPr lang="ko-KR" altLang="en-US" sz="1200" dirty="0"/>
                        <a:t>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요청내용을 처리합니다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처리결과를 상세하게 기술합니다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SR</a:t>
                      </a:r>
                      <a:r>
                        <a:rPr lang="ko-KR" altLang="en-US" sz="1200" dirty="0"/>
                        <a:t>검증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요청접수시 요청구분이 </a:t>
                      </a:r>
                      <a:r>
                        <a:rPr lang="ko-KR" altLang="en-US" sz="1200"/>
                        <a:t>응용 프로그램인 </a:t>
                      </a:r>
                      <a:r>
                        <a:rPr lang="ko-KR" altLang="en-US" sz="1200" dirty="0"/>
                        <a:t>경우 처리 이후 검증단계로 넘어옵니다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검증단계에서 미흡할 경우 </a:t>
                      </a:r>
                      <a:r>
                        <a:rPr lang="ko-KR" altLang="en-US" sz="1200" dirty="0" err="1"/>
                        <a:t>재요청이</a:t>
                      </a:r>
                      <a:r>
                        <a:rPr lang="ko-KR" altLang="en-US" sz="1200" dirty="0"/>
                        <a:t> 가능합니다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SR</a:t>
                      </a:r>
                      <a:r>
                        <a:rPr lang="ko-KR" altLang="en-US" sz="1200" dirty="0"/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검증을 거친 요청에 대하여 완료처리를 합니다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SR</a:t>
                      </a:r>
                      <a:r>
                        <a:rPr lang="ko-KR" altLang="en-US" sz="1200" dirty="0"/>
                        <a:t>평가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처리결과 또는 완료결과에 대하여 만족도를 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중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하로 평가합니다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" name="object 12"/>
          <p:cNvSpPr txBox="1"/>
          <p:nvPr/>
        </p:nvSpPr>
        <p:spPr>
          <a:xfrm>
            <a:off x="430656" y="6808328"/>
            <a:ext cx="6259830" cy="13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사용자 기능 주요사항 </a:t>
            </a:r>
            <a:endParaRPr sz="1200" dirty="0">
              <a:latin typeface="Malgun Gothic"/>
              <a:cs typeface="Malgun Gothic"/>
            </a:endParaRPr>
          </a:p>
          <a:p>
            <a:pPr marL="249554" marR="5080" indent="-216535">
              <a:lnSpc>
                <a:spcPct val="125000"/>
              </a:lnSpc>
              <a:spcBef>
                <a:spcPts val="74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latin typeface="Malgun Gothic"/>
                <a:cs typeface="Malgun Gothic"/>
              </a:rPr>
              <a:t>검증 단계의 </a:t>
            </a:r>
            <a:r>
              <a:rPr lang="ko-KR" altLang="en-US" sz="1200" b="1" dirty="0" err="1">
                <a:latin typeface="Malgun Gothic"/>
                <a:cs typeface="Malgun Gothic"/>
              </a:rPr>
              <a:t>재요청</a:t>
            </a:r>
            <a:r>
              <a:rPr lang="ko-KR" altLang="en-US" sz="1200" dirty="0">
                <a:latin typeface="Malgun Gothic"/>
                <a:cs typeface="Malgun Gothic"/>
              </a:rPr>
              <a:t> 기능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249554" marR="5080" indent="-216535">
              <a:lnSpc>
                <a:spcPct val="125000"/>
              </a:lnSpc>
              <a:spcBef>
                <a:spcPts val="745"/>
              </a:spcBef>
            </a:pPr>
            <a:r>
              <a:rPr lang="en-US" sz="1200" dirty="0">
                <a:latin typeface="Malgun Gothic"/>
                <a:cs typeface="Malgun Gothic"/>
              </a:rPr>
              <a:t>   </a:t>
            </a:r>
            <a:r>
              <a:rPr lang="en-US" sz="1200" dirty="0">
                <a:latin typeface="Malgun Gothic"/>
                <a:cs typeface="Malgun Gothic"/>
                <a:sym typeface="Wingdings" panose="05000000000000000000" pitchFamily="2" charset="2"/>
              </a:rPr>
              <a:t> </a:t>
            </a:r>
            <a:r>
              <a:rPr lang="ko-KR" altLang="en-US" sz="1200" dirty="0" err="1">
                <a:latin typeface="Malgun Gothic"/>
                <a:cs typeface="Malgun Gothic"/>
                <a:sym typeface="Wingdings" panose="05000000000000000000" pitchFamily="2" charset="2"/>
              </a:rPr>
              <a:t>재요청은</a:t>
            </a:r>
            <a:r>
              <a:rPr lang="ko-KR" altLang="en-US" sz="1200" dirty="0">
                <a:latin typeface="Malgun Gothic"/>
                <a:cs typeface="Malgun Gothic"/>
                <a:sym typeface="Wingdings" panose="05000000000000000000" pitchFamily="2" charset="2"/>
              </a:rPr>
              <a:t> </a:t>
            </a:r>
            <a:r>
              <a:rPr lang="en-US" altLang="ko-KR" sz="1200" b="1" dirty="0">
                <a:latin typeface="Malgun Gothic"/>
                <a:cs typeface="Malgun Gothic"/>
                <a:sym typeface="Wingdings" panose="05000000000000000000" pitchFamily="2" charset="2"/>
              </a:rPr>
              <a:t>1</a:t>
            </a:r>
            <a:r>
              <a:rPr lang="ko-KR" altLang="en-US" sz="1200" b="1" dirty="0">
                <a:latin typeface="Malgun Gothic"/>
                <a:cs typeface="Malgun Gothic"/>
                <a:sym typeface="Wingdings" panose="05000000000000000000" pitchFamily="2" charset="2"/>
              </a:rPr>
              <a:t>회만 가능</a:t>
            </a:r>
            <a:r>
              <a:rPr lang="ko-KR" altLang="en-US" sz="1200" dirty="0">
                <a:latin typeface="Malgun Gothic"/>
                <a:cs typeface="Malgun Gothic"/>
                <a:sym typeface="Wingdings" panose="05000000000000000000" pitchFamily="2" charset="2"/>
              </a:rPr>
              <a:t>합니다</a:t>
            </a:r>
            <a:r>
              <a:rPr lang="en-US" altLang="ko-KR" sz="1200" dirty="0">
                <a:latin typeface="Malgun Gothic"/>
                <a:cs typeface="Malgun Gothic"/>
                <a:sym typeface="Wingdings" panose="05000000000000000000" pitchFamily="2" charset="2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latin typeface="Malgun Gothic"/>
                <a:cs typeface="Malgun Gothic"/>
              </a:rPr>
              <a:t>②</a:t>
            </a:r>
            <a:r>
              <a:rPr lang="en-US" sz="1200" dirty="0">
                <a:latin typeface="Malgun Gothic"/>
                <a:cs typeface="Malgun Gothic"/>
              </a:rPr>
              <a:t> SR </a:t>
            </a:r>
            <a:r>
              <a:rPr lang="ko-KR" altLang="en-US" sz="1200" dirty="0">
                <a:latin typeface="Malgun Gothic"/>
                <a:cs typeface="Malgun Gothic"/>
              </a:rPr>
              <a:t>평가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lang="en-US" sz="1200" dirty="0">
                <a:latin typeface="Malgun Gothic"/>
                <a:cs typeface="Malgun Gothic"/>
              </a:rPr>
              <a:t>   </a:t>
            </a:r>
            <a:r>
              <a:rPr lang="en-US" sz="1200" dirty="0">
                <a:latin typeface="Malgun Gothic"/>
                <a:cs typeface="Malgun Gothic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Malgun Gothic"/>
                <a:cs typeface="Malgun Gothic"/>
                <a:sym typeface="Wingdings" panose="05000000000000000000" pitchFamily="2" charset="2"/>
              </a:rPr>
              <a:t>만족도를 </a:t>
            </a:r>
            <a:r>
              <a:rPr lang="ko-KR" altLang="en-US" sz="1200" b="1" dirty="0">
                <a:latin typeface="Malgun Gothic"/>
                <a:cs typeface="Malgun Gothic"/>
                <a:sym typeface="Wingdings" panose="05000000000000000000" pitchFamily="2" charset="2"/>
              </a:rPr>
              <a:t>상</a:t>
            </a:r>
            <a:r>
              <a:rPr lang="en-US" altLang="ko-KR" sz="1200" b="1" dirty="0">
                <a:latin typeface="Malgun Gothic"/>
                <a:cs typeface="Malgun Gothic"/>
                <a:sym typeface="Wingdings" panose="05000000000000000000" pitchFamily="2" charset="2"/>
              </a:rPr>
              <a:t>, </a:t>
            </a:r>
            <a:r>
              <a:rPr lang="ko-KR" altLang="en-US" sz="1200" b="1" dirty="0">
                <a:latin typeface="Malgun Gothic"/>
                <a:cs typeface="Malgun Gothic"/>
                <a:sym typeface="Wingdings" panose="05000000000000000000" pitchFamily="2" charset="2"/>
              </a:rPr>
              <a:t>중</a:t>
            </a:r>
            <a:r>
              <a:rPr lang="en-US" altLang="ko-KR" sz="1200" b="1" dirty="0">
                <a:latin typeface="Malgun Gothic"/>
                <a:cs typeface="Malgun Gothic"/>
                <a:sym typeface="Wingdings" panose="05000000000000000000" pitchFamily="2" charset="2"/>
              </a:rPr>
              <a:t>, </a:t>
            </a:r>
            <a:r>
              <a:rPr lang="ko-KR" altLang="en-US" sz="1200" b="1" dirty="0">
                <a:latin typeface="Malgun Gothic"/>
                <a:cs typeface="Malgun Gothic"/>
                <a:sym typeface="Wingdings" panose="05000000000000000000" pitchFamily="2" charset="2"/>
              </a:rPr>
              <a:t>하</a:t>
            </a:r>
            <a:r>
              <a:rPr lang="ko-KR" altLang="en-US" sz="1200" dirty="0">
                <a:latin typeface="Malgun Gothic"/>
                <a:cs typeface="Malgun Gothic"/>
                <a:sym typeface="Wingdings" panose="05000000000000000000" pitchFamily="2" charset="2"/>
              </a:rPr>
              <a:t>로 평가합니다</a:t>
            </a:r>
            <a:endParaRPr sz="12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6294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7800" y="986484"/>
            <a:ext cx="1760220" cy="66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Malgun Gothic"/>
                <a:cs typeface="Malgun Gothic"/>
              </a:rPr>
              <a:t>나.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주요</a:t>
            </a:r>
            <a:r>
              <a:rPr sz="1600" b="1" spc="-35" dirty="0">
                <a:latin typeface="Malgun Gothic"/>
                <a:cs typeface="Malgun Gothic"/>
              </a:rPr>
              <a:t> </a:t>
            </a:r>
            <a:r>
              <a:rPr sz="1600" b="1" spc="-25" dirty="0">
                <a:latin typeface="Malgun Gothic"/>
                <a:cs typeface="Malgun Gothic"/>
              </a:rPr>
              <a:t>메뉴</a:t>
            </a:r>
            <a:endParaRPr sz="1600">
              <a:latin typeface="Malgun Gothic"/>
              <a:cs typeface="Malgun Gothic"/>
            </a:endParaRPr>
          </a:p>
          <a:p>
            <a:pPr marL="242570">
              <a:lnSpc>
                <a:spcPct val="100000"/>
              </a:lnSpc>
              <a:spcBef>
                <a:spcPts val="1400"/>
              </a:spcBef>
            </a:pPr>
            <a:r>
              <a:rPr sz="1400" b="1" dirty="0">
                <a:solidFill>
                  <a:srgbClr val="252525"/>
                </a:solidFill>
                <a:latin typeface="Malgun Gothic"/>
                <a:cs typeface="Malgun Gothic"/>
              </a:rPr>
              <a:t>메인</a:t>
            </a:r>
            <a:r>
              <a:rPr sz="1400" b="1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252525"/>
                </a:solidFill>
                <a:latin typeface="Malgun Gothic"/>
                <a:cs typeface="Malgun Gothic"/>
              </a:rPr>
              <a:t>화면</a:t>
            </a:r>
            <a:r>
              <a:rPr sz="1400" b="1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400" b="1" spc="-2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252525"/>
                </a:solidFill>
                <a:latin typeface="Malgun Gothic"/>
                <a:cs typeface="Malgun Gothic"/>
              </a:rPr>
              <a:t>로그인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3275" y="1403603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4">
                <a:moveTo>
                  <a:pt x="0" y="0"/>
                </a:moveTo>
                <a:lnTo>
                  <a:pt x="0" y="216026"/>
                </a:lnTo>
              </a:path>
            </a:pathLst>
          </a:custGeom>
          <a:ln w="571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6408" y="6795516"/>
            <a:ext cx="6440805" cy="350520"/>
          </a:xfrm>
          <a:custGeom>
            <a:avLst/>
            <a:gdLst/>
            <a:ahLst/>
            <a:cxnLst/>
            <a:rect l="l" t="t" r="r" b="b"/>
            <a:pathLst>
              <a:path w="6440805" h="350520">
                <a:moveTo>
                  <a:pt x="6440423" y="0"/>
                </a:moveTo>
                <a:lnTo>
                  <a:pt x="0" y="0"/>
                </a:lnTo>
                <a:lnTo>
                  <a:pt x="0" y="350519"/>
                </a:lnTo>
                <a:lnTo>
                  <a:pt x="6440423" y="350519"/>
                </a:lnTo>
                <a:lnTo>
                  <a:pt x="644042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2229" y="6865111"/>
            <a:ext cx="4504690" cy="1436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indent="-2279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72415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  <a:p>
            <a:pPr marL="175260" indent="-162560">
              <a:lnSpc>
                <a:spcPct val="100000"/>
              </a:lnSpc>
              <a:spcBef>
                <a:spcPts val="1205"/>
              </a:spcBef>
              <a:buChar char="&gt;"/>
              <a:tabLst>
                <a:tab pos="175260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로그인을</a:t>
            </a:r>
            <a:r>
              <a:rPr sz="1200" b="1" spc="10" dirty="0">
                <a:solidFill>
                  <a:srgbClr val="0067AC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할 수</a:t>
            </a:r>
            <a:r>
              <a:rPr sz="1200" b="1" spc="10" dirty="0">
                <a:solidFill>
                  <a:srgbClr val="0067AC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있는</a:t>
            </a:r>
            <a:r>
              <a:rPr sz="1200" b="1" spc="-5" dirty="0">
                <a:solidFill>
                  <a:srgbClr val="0067AC"/>
                </a:solidFill>
                <a:latin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0067AC"/>
                </a:solidFill>
                <a:latin typeface="Malgun Gothic"/>
                <a:cs typeface="Malgun Gothic"/>
              </a:rPr>
              <a:t>메인</a:t>
            </a:r>
            <a:r>
              <a:rPr sz="1200" b="1" spc="-5" dirty="0">
                <a:solidFill>
                  <a:srgbClr val="0067AC"/>
                </a:solidFill>
                <a:latin typeface="Malgun Gothic"/>
                <a:cs typeface="Malgun Gothic"/>
              </a:rPr>
              <a:t> </a:t>
            </a:r>
            <a:r>
              <a:rPr sz="1200" b="1" spc="-25" dirty="0" err="1">
                <a:solidFill>
                  <a:srgbClr val="0067AC"/>
                </a:solidFill>
                <a:latin typeface="Malgun Gothic"/>
                <a:cs typeface="Malgun Gothic"/>
              </a:rPr>
              <a:t>화면</a:t>
            </a:r>
            <a:endParaRPr lang="en-US" sz="1200" b="1" spc="-25" dirty="0">
              <a:solidFill>
                <a:srgbClr val="0067AC"/>
              </a:solidFill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  <a:tabLst>
                <a:tab pos="175260" algn="l"/>
              </a:tabLst>
            </a:pPr>
            <a:r>
              <a:rPr lang="ko-KR" altLang="en-US" sz="1200" b="1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/>
                <a:cs typeface="Malgun Gothic"/>
              </a:rPr>
              <a:t>브라우저에서 </a:t>
            </a:r>
            <a:r>
              <a:rPr lang="en-US" altLang="ko-KR" sz="1200" b="1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/>
                <a:cs typeface="Malgun Gothic"/>
              </a:rPr>
              <a:t>itsm.korailtech.com </a:t>
            </a:r>
            <a:r>
              <a:rPr lang="ko-KR" altLang="en-US" sz="1200" b="1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/>
                <a:cs typeface="Malgun Gothic"/>
              </a:rPr>
              <a:t>을 입력합니다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로그인은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ID/PW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252525"/>
                </a:solidFill>
                <a:latin typeface="Malgun Gothic"/>
                <a:cs typeface="Malgun Gothic"/>
              </a:rPr>
              <a:t>로그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인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합니다.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latin typeface="Malgun Gothic"/>
                <a:cs typeface="Malgun Gothic"/>
              </a:rPr>
              <a:t>②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ITSM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회원가입</a:t>
            </a:r>
            <a:r>
              <a:rPr lang="ko-KR" altLang="en-US" sz="1200" dirty="0">
                <a:latin typeface="Malgun Gothic"/>
                <a:cs typeface="Malgun Gothic"/>
              </a:rPr>
              <a:t>은 관리자가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신규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회원으로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등록할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있습니다.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12222" t="8776" r="12222"/>
          <a:stretch/>
        </p:blipFill>
        <p:spPr>
          <a:xfrm>
            <a:off x="202487" y="1885563"/>
            <a:ext cx="6479413" cy="42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7800" y="986484"/>
            <a:ext cx="1938020" cy="66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Malgun Gothic"/>
                <a:cs typeface="Malgun Gothic"/>
              </a:rPr>
              <a:t>나.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주요</a:t>
            </a:r>
            <a:r>
              <a:rPr sz="1600" b="1" spc="-35" dirty="0">
                <a:latin typeface="Malgun Gothic"/>
                <a:cs typeface="Malgun Gothic"/>
              </a:rPr>
              <a:t> </a:t>
            </a:r>
            <a:r>
              <a:rPr sz="1600" b="1" spc="-25" dirty="0">
                <a:latin typeface="Malgun Gothic"/>
                <a:cs typeface="Malgun Gothic"/>
              </a:rPr>
              <a:t>메뉴</a:t>
            </a:r>
            <a:endParaRPr sz="1600" dirty="0">
              <a:latin typeface="Malgun Gothic"/>
              <a:cs typeface="Malgun Gothic"/>
            </a:endParaRPr>
          </a:p>
          <a:p>
            <a:pPr marL="242570">
              <a:lnSpc>
                <a:spcPct val="100000"/>
              </a:lnSpc>
              <a:spcBef>
                <a:spcPts val="1400"/>
              </a:spcBef>
            </a:pPr>
            <a:r>
              <a:rPr sz="1400" b="1" dirty="0">
                <a:solidFill>
                  <a:srgbClr val="252525"/>
                </a:solidFill>
                <a:latin typeface="Malgun Gothic"/>
                <a:cs typeface="Malgun Gothic"/>
              </a:rPr>
              <a:t>메인</a:t>
            </a:r>
            <a:r>
              <a:rPr sz="1400" b="1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252525"/>
                </a:solidFill>
                <a:latin typeface="Malgun Gothic"/>
                <a:cs typeface="Malgun Gothic"/>
              </a:rPr>
              <a:t>화면</a:t>
            </a:r>
            <a:r>
              <a:rPr sz="1400" b="1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400" b="1" spc="-2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b="1" spc="-20" dirty="0" err="1">
                <a:solidFill>
                  <a:srgbClr val="252525"/>
                </a:solidFill>
                <a:latin typeface="Malgun Gothic"/>
                <a:cs typeface="Malgun Gothic"/>
              </a:rPr>
              <a:t>회원</a:t>
            </a:r>
            <a:r>
              <a:rPr lang="ko-KR" altLang="en-US" sz="1400" b="1" spc="-20" dirty="0">
                <a:solidFill>
                  <a:srgbClr val="252525"/>
                </a:solidFill>
                <a:latin typeface="Malgun Gothic"/>
                <a:cs typeface="Malgun Gothic"/>
              </a:rPr>
              <a:t>정보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3275" y="1403603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4">
                <a:moveTo>
                  <a:pt x="0" y="0"/>
                </a:moveTo>
                <a:lnTo>
                  <a:pt x="0" y="216026"/>
                </a:lnTo>
              </a:path>
            </a:pathLst>
          </a:custGeom>
          <a:ln w="571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5534" y="5943600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1355" y="6349111"/>
            <a:ext cx="517842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indent="-162560">
              <a:lnSpc>
                <a:spcPct val="100000"/>
              </a:lnSpc>
              <a:spcBef>
                <a:spcPts val="100"/>
              </a:spcBef>
              <a:buChar char="&gt;"/>
              <a:tabLst>
                <a:tab pos="175260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오른쪽 상당의 사용자명 클릭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사용자 정보를 조회합니다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latin typeface="Malgun Gothic"/>
                <a:cs typeface="Malgun Gothic"/>
              </a:rPr>
              <a:t>②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latin typeface="Malgun Gothic"/>
                <a:cs typeface="Malgun Gothic"/>
              </a:rPr>
              <a:t>비밀번호 등 사용자 정보를 수정합니다</a:t>
            </a:r>
            <a:r>
              <a:rPr sz="1200" spc="-20" dirty="0"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7" y="1823681"/>
            <a:ext cx="6488593" cy="370407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638800" y="2057400"/>
            <a:ext cx="9906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762" y="6459556"/>
            <a:ext cx="5766038" cy="759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indent="-162560">
              <a:lnSpc>
                <a:spcPct val="100000"/>
              </a:lnSpc>
              <a:spcBef>
                <a:spcPts val="100"/>
              </a:spcBef>
              <a:buChar char="&gt;"/>
              <a:tabLst>
                <a:tab pos="175260" algn="l"/>
              </a:tabLst>
            </a:pPr>
            <a:r>
              <a:rPr 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요청 내용 조회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등록한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 내용을 조회합니다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latin typeface="Malgun Gothic"/>
                <a:cs typeface="Malgun Gothic"/>
              </a:rPr>
              <a:t>②</a:t>
            </a:r>
            <a:r>
              <a:rPr lang="en-US" sz="1200" dirty="0"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latin typeface="Malgun Gothic"/>
                <a:cs typeface="Malgun Gothic"/>
              </a:rPr>
              <a:t>신규 </a:t>
            </a:r>
            <a:r>
              <a:rPr lang="en-US" altLang="ko-KR" sz="1200" dirty="0"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latin typeface="Malgun Gothic"/>
                <a:cs typeface="Malgun Gothic"/>
              </a:rPr>
              <a:t>요청 내용을 등록하거나 등록된 </a:t>
            </a:r>
            <a:r>
              <a:rPr lang="en-US" altLang="ko-KR" sz="1200" dirty="0"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latin typeface="Malgun Gothic"/>
                <a:cs typeface="Malgun Gothic"/>
              </a:rPr>
              <a:t>요청 내용을 수정 및 삭제합니다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8272"/>
          <a:stretch/>
        </p:blipFill>
        <p:spPr>
          <a:xfrm>
            <a:off x="310285" y="1975087"/>
            <a:ext cx="6244034" cy="3269613"/>
          </a:xfrm>
          <a:prstGeom prst="rect">
            <a:avLst/>
          </a:prstGeom>
        </p:spPr>
      </p:pic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요청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 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50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요청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 등록</a:t>
            </a:r>
            <a:endParaRPr sz="1200" dirty="0">
              <a:latin typeface="Malgun Gothic"/>
              <a:cs typeface="Malgun Gothic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7435" b="5207"/>
          <a:stretch/>
        </p:blipFill>
        <p:spPr>
          <a:xfrm>
            <a:off x="304241" y="1603762"/>
            <a:ext cx="6256122" cy="4137176"/>
          </a:xfrm>
          <a:prstGeom prst="rect">
            <a:avLst/>
          </a:prstGeom>
        </p:spPr>
      </p:pic>
      <p:sp>
        <p:nvSpPr>
          <p:cNvPr id="18" name="object 12"/>
          <p:cNvSpPr txBox="1"/>
          <p:nvPr/>
        </p:nvSpPr>
        <p:spPr>
          <a:xfrm>
            <a:off x="244653" y="6477000"/>
            <a:ext cx="6290310" cy="12259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요청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을</a:t>
            </a:r>
            <a:r>
              <a:rPr sz="1200" b="1" spc="5" dirty="0">
                <a:solidFill>
                  <a:srgbClr val="0067AC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직접</a:t>
            </a:r>
            <a:r>
              <a:rPr sz="1200" b="1" spc="-5" dirty="0">
                <a:solidFill>
                  <a:srgbClr val="0067AC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등록하여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 작성합니다.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사용</a:t>
            </a:r>
            <a:r>
              <a:rPr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자가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직접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SR을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등록합니다.</a:t>
            </a:r>
            <a:endParaRPr sz="1200" dirty="0"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요청일시(</a:t>
            </a:r>
            <a:r>
              <a:rPr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자동등록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),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요청자정보, </a:t>
            </a:r>
            <a:r>
              <a:rPr sz="1200" dirty="0" err="1">
                <a:solidFill>
                  <a:srgbClr val="252525"/>
                </a:solidFill>
                <a:latin typeface="Malgun Gothic"/>
                <a:cs typeface="Malgun Gothic"/>
              </a:rPr>
              <a:t>요청사항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spc="-50" dirty="0">
                <a:solidFill>
                  <a:srgbClr val="252525"/>
                </a:solidFill>
                <a:latin typeface="Malgun Gothic"/>
                <a:cs typeface="Malgun Gothic"/>
              </a:rPr>
              <a:t>등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을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기술하여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작성합니다.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참조 아이디는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 내용을 공유합니다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③</a:t>
            </a: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252525"/>
                </a:solidFill>
                <a:latin typeface="Malgun Gothic"/>
                <a:cs typeface="Malgun Gothic"/>
              </a:rPr>
              <a:t>추가적인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첨부파일을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등록합니다.</a:t>
            </a:r>
            <a:r>
              <a:rPr sz="1200" spc="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(미등록</a:t>
            </a:r>
            <a:r>
              <a:rPr sz="1200" spc="-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Malgun Gothic"/>
                <a:cs typeface="Malgun Gothic"/>
              </a:rPr>
              <a:t>가능)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38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요청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 수정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990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요청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을</a:t>
            </a:r>
            <a:r>
              <a:rPr sz="1200" b="1" spc="5" dirty="0">
                <a:solidFill>
                  <a:srgbClr val="0067AC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5" dirty="0">
                <a:solidFill>
                  <a:srgbClr val="0067AC"/>
                </a:solidFill>
                <a:latin typeface="Malgun Gothic"/>
                <a:cs typeface="Malgun Gothic"/>
              </a:rPr>
              <a:t>수정 또는 </a:t>
            </a:r>
            <a:r>
              <a:rPr lang="ko-KR" altLang="en-US" sz="1200" b="1" spc="5" dirty="0" err="1">
                <a:solidFill>
                  <a:srgbClr val="0067AC"/>
                </a:solidFill>
                <a:latin typeface="Malgun Gothic"/>
                <a:cs typeface="Malgun Gothic"/>
              </a:rPr>
              <a:t>삭제합</a:t>
            </a:r>
            <a:r>
              <a:rPr sz="1200" b="1" spc="-10" dirty="0" err="1">
                <a:solidFill>
                  <a:srgbClr val="0067AC"/>
                </a:solidFill>
                <a:latin typeface="Malgun Gothic"/>
                <a:cs typeface="Malgun Gothic"/>
              </a:rPr>
              <a:t>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등록된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을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5" dirty="0">
                <a:solidFill>
                  <a:srgbClr val="252525"/>
                </a:solidFill>
                <a:latin typeface="Malgun Gothic"/>
                <a:cs typeface="Malgun Gothic"/>
              </a:rPr>
              <a:t>클릭</a:t>
            </a:r>
            <a:r>
              <a:rPr sz="1200" spc="-10" dirty="0" err="1">
                <a:solidFill>
                  <a:srgbClr val="252525"/>
                </a:solidFill>
                <a:latin typeface="Malgun Gothic"/>
                <a:cs typeface="Malgun Gothic"/>
              </a:rPr>
              <a:t>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등록한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내용을 수정하거나 삭제할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7434" b="4498"/>
          <a:stretch/>
        </p:blipFill>
        <p:spPr>
          <a:xfrm>
            <a:off x="304800" y="1581315"/>
            <a:ext cx="6238630" cy="415908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81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접수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접수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접수 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759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사용자는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접수내역 조회만 가능합니다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등록된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요청중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접수전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내용을 클릭하면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요청내용을 확인할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0231"/>
          <a:stretch/>
        </p:blipFill>
        <p:spPr>
          <a:xfrm>
            <a:off x="259841" y="1889495"/>
            <a:ext cx="6388905" cy="331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접수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접수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접수 상세조회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759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사용자는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접수내역 조회만 가능합니다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 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접수전인 경우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접수자와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일시는 공란으로 표시됩니다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9631"/>
          <a:stretch/>
        </p:blipFill>
        <p:spPr>
          <a:xfrm>
            <a:off x="304800" y="1905968"/>
            <a:ext cx="6271114" cy="327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처리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처리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처리 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1084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사용자는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처리내역 조회만 가능합니다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등록된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요청중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처리전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lang="en-US" sz="1200" spc="-10" dirty="0">
              <a:solidFill>
                <a:srgbClr val="252525"/>
              </a:solidFill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 -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시간이 초과된 경우 리스트의 제목이 빨간색으로 표시됩니다</a:t>
            </a:r>
            <a:r>
              <a:rPr lang="en-US" altLang="ko-KR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내용을 클릭하면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처리 상태를 확인할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9631"/>
          <a:stretch/>
        </p:blipFill>
        <p:spPr>
          <a:xfrm>
            <a:off x="304800" y="1994378"/>
            <a:ext cx="6343946" cy="331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91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처리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처리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처리 상세조회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759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사용자는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처리내역 조회만 가능합니다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처리 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접수내용이 표시되고 처리전인 경우 처리내용은 공란으로 표시됩니다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9631"/>
          <a:stretch/>
        </p:blipFill>
        <p:spPr>
          <a:xfrm>
            <a:off x="259841" y="2057400"/>
            <a:ext cx="6388905" cy="33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02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검증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 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990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검증내역을 조회합니다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처리된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을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5" dirty="0">
                <a:solidFill>
                  <a:srgbClr val="252525"/>
                </a:solidFill>
                <a:latin typeface="Malgun Gothic"/>
                <a:cs typeface="Malgun Gothic"/>
              </a:rPr>
              <a:t>클릭</a:t>
            </a:r>
            <a:r>
              <a:rPr sz="1200" spc="-10" dirty="0" err="1">
                <a:solidFill>
                  <a:srgbClr val="252525"/>
                </a:solidFill>
                <a:latin typeface="Malgun Gothic"/>
                <a:cs typeface="Malgun Gothic"/>
              </a:rPr>
              <a:t>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내용을 조회하거나 검증완료 또는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재요청을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7434" b="4498"/>
          <a:stretch/>
        </p:blipFill>
        <p:spPr>
          <a:xfrm>
            <a:off x="242907" y="1578362"/>
            <a:ext cx="6388905" cy="42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9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15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검증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 입력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1928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검증내역을 입력합니다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 err="1">
                <a:solidFill>
                  <a:srgbClr val="252525"/>
                </a:solidFill>
                <a:latin typeface="Malgun Gothic"/>
                <a:cs typeface="Malgun Gothic"/>
              </a:rPr>
              <a:t>검증일시는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 err="1">
                <a:solidFill>
                  <a:srgbClr val="252525"/>
                </a:solidFill>
                <a:latin typeface="Malgun Gothic"/>
                <a:cs typeface="Malgun Gothic"/>
              </a:rPr>
              <a:t>자동입력됩니다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lang="en-US" sz="1200" spc="-10" dirty="0">
              <a:solidFill>
                <a:srgbClr val="252525"/>
              </a:solidFill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-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검증내역을 입력할 수 있습니다</a:t>
            </a:r>
            <a:r>
              <a:rPr lang="en-US" altLang="ko-KR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내용을 조회하거나 검증완료 또는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재요청을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  -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재요청은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1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회만 가능하며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재요청된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은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재요청이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안됩니다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  -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재요청을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클릭하면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요청화면으로 이동하며 이전의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ST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요청내용이 하단에 표시됩니다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③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접수일시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처리일시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및 처리내역을 확인할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7434"/>
          <a:stretch/>
        </p:blipFill>
        <p:spPr>
          <a:xfrm>
            <a:off x="259841" y="1573632"/>
            <a:ext cx="6388905" cy="426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20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16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검증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12259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검증 </a:t>
            </a:r>
            <a:r>
              <a:rPr lang="ko-KR" altLang="en-US" sz="1200" b="1" dirty="0" err="1">
                <a:solidFill>
                  <a:srgbClr val="0067AC"/>
                </a:solidFill>
                <a:latin typeface="Malgun Gothic"/>
                <a:cs typeface="Malgun Gothic"/>
              </a:rPr>
              <a:t>재요청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요청과 동일한 입력화면입니다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이전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요청내용이 하단에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내용을 저장하거나 취소할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  -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저장을 클릭해야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재요청내용이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저장되고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요청에서 조회할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7434"/>
          <a:stretch/>
        </p:blipFill>
        <p:spPr>
          <a:xfrm>
            <a:off x="259841" y="1590566"/>
            <a:ext cx="6388905" cy="422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17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17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완료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완료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완료 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759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사용자는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완료내역 조회만 가능합니다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등록된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요청중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완료전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내용을 클릭하면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완료 상태를 확인할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9631"/>
          <a:stretch/>
        </p:blipFill>
        <p:spPr>
          <a:xfrm>
            <a:off x="259841" y="1949176"/>
            <a:ext cx="6388905" cy="33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2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18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완료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완료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완료 상세조회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9438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사용자는 </a:t>
            </a: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완료내역 조회만 가능합니다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완료 내용이 표시됩니다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접수내용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접수일시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처리일시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검증일시가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표시되고 완료전인 경우 완료내용은 공란으로 표시됩니다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9631"/>
          <a:stretch/>
        </p:blipFill>
        <p:spPr>
          <a:xfrm>
            <a:off x="259841" y="2057400"/>
            <a:ext cx="6388905" cy="33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83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19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평가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평가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평가 조회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1928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평가 조회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요청이 최종 완료된 내역을 조회합니다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5" dirty="0" err="1">
                <a:solidFill>
                  <a:srgbClr val="252525"/>
                </a:solidFill>
                <a:latin typeface="Malgun Gothic"/>
                <a:cs typeface="Malgun Gothic"/>
              </a:rPr>
              <a:t>평가완료된</a:t>
            </a:r>
            <a:r>
              <a:rPr lang="ko-KR" altLang="en-US"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내역은 조회만 가능합니다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lang="en-US" sz="1200" spc="-10" dirty="0">
              <a:solidFill>
                <a:srgbClr val="252525"/>
              </a:solidFill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- 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평가전인 요청내용은 만족도를 평가할 수 있습니다</a:t>
            </a:r>
            <a:r>
              <a:rPr lang="en-US" altLang="ko-KR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재요청된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은 목록의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번호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(SR-XXXX-XX)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가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③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은 목록의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날짜가 있습니다</a:t>
            </a:r>
            <a:endParaRPr lang="en-US" altLang="ko-KR" sz="1200" dirty="0">
              <a:solidFill>
                <a:srgbClr val="252525"/>
              </a:solidFill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   -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재요청되어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처리된 결과입니다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endParaRPr lang="en-US" altLang="ko-KR" sz="1200" dirty="0">
              <a:solidFill>
                <a:srgbClr val="252525"/>
              </a:solidFill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7434" b="4498"/>
          <a:stretch/>
        </p:blipFill>
        <p:spPr>
          <a:xfrm>
            <a:off x="259841" y="1586829"/>
            <a:ext cx="6388905" cy="42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5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0" dirty="0" err="1"/>
              <a:t>코레일테크</a:t>
            </a:r>
            <a:r>
              <a:rPr lang="ko-KR" altLang="en-US" spc="-160" dirty="0"/>
              <a:t> </a:t>
            </a:r>
            <a:r>
              <a:rPr spc="-20" dirty="0"/>
              <a:t>ITSM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7941" y="6054045"/>
            <a:ext cx="6440805" cy="3505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1915" rIns="0" bIns="0" rtlCol="0">
            <a:spAutoFit/>
          </a:bodyPr>
          <a:lstStyle/>
          <a:p>
            <a:pPr marL="318770" indent="-227965">
              <a:lnSpc>
                <a:spcPct val="100000"/>
              </a:lnSpc>
              <a:spcBef>
                <a:spcPts val="645"/>
              </a:spcBef>
              <a:buFont typeface="Wingdings"/>
              <a:buChar char=""/>
              <a:tabLst>
                <a:tab pos="318770" algn="l"/>
              </a:tabLst>
            </a:pPr>
            <a:r>
              <a:rPr sz="1200" spc="-20" dirty="0">
                <a:solidFill>
                  <a:srgbClr val="252525"/>
                </a:solidFill>
                <a:latin typeface="Malgun Gothic"/>
                <a:cs typeface="Malgun Gothic"/>
              </a:rPr>
              <a:t>이용방법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50" dirty="0"/>
              <a:t>20</a:t>
            </a:fld>
            <a:endParaRPr spc="-50" dirty="0"/>
          </a:p>
        </p:txBody>
      </p:sp>
      <p:sp>
        <p:nvSpPr>
          <p:cNvPr id="16" name="object 10"/>
          <p:cNvSpPr txBox="1"/>
          <p:nvPr/>
        </p:nvSpPr>
        <p:spPr>
          <a:xfrm>
            <a:off x="117347" y="878334"/>
            <a:ext cx="6646545" cy="335280"/>
          </a:xfrm>
          <a:prstGeom prst="rect">
            <a:avLst/>
          </a:prstGeom>
          <a:solidFill>
            <a:srgbClr val="0067AC"/>
          </a:solidFill>
        </p:spPr>
        <p:txBody>
          <a:bodyPr vert="horz" wrap="square" lIns="0" tIns="66675" rIns="0" bIns="0" rtlCol="0">
            <a:noAutofit/>
          </a:bodyPr>
          <a:lstStyle/>
          <a:p>
            <a:pPr marL="90805">
              <a:lnSpc>
                <a:spcPct val="100000"/>
              </a:lnSpc>
              <a:spcBef>
                <a:spcPts val="5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SR</a:t>
            </a:r>
            <a:r>
              <a:rPr lang="ko-KR" altLang="en-US"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평가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195478" y="1251671"/>
            <a:ext cx="2125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평가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:</a:t>
            </a:r>
            <a:r>
              <a:rPr sz="12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평가 만족도 입력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244653" y="6477000"/>
            <a:ext cx="6290310" cy="1697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har char="&gt;"/>
              <a:tabLst>
                <a:tab pos="175895" algn="l"/>
              </a:tabLst>
            </a:pPr>
            <a:r>
              <a:rPr sz="1200" b="1" dirty="0">
                <a:solidFill>
                  <a:srgbClr val="0067AC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b="1" dirty="0">
                <a:solidFill>
                  <a:srgbClr val="0067AC"/>
                </a:solidFill>
                <a:latin typeface="Malgun Gothic"/>
                <a:cs typeface="Malgun Gothic"/>
              </a:rPr>
              <a:t>평가 만족도 입력</a:t>
            </a:r>
            <a:r>
              <a:rPr sz="1200" b="1" spc="-10" dirty="0">
                <a:solidFill>
                  <a:srgbClr val="0067AC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1105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①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평가화면에서 만족도를 입력합니다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  <a:p>
            <a:pPr marL="302895" marR="5080" indent="-108585">
              <a:lnSpc>
                <a:spcPct val="125000"/>
              </a:lnSpc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-</a:t>
            </a:r>
            <a:r>
              <a:rPr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만족도는 상</a:t>
            </a:r>
            <a:r>
              <a:rPr lang="en-US" altLang="ko-KR"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중</a:t>
            </a:r>
            <a:r>
              <a:rPr lang="en-US" altLang="ko-KR"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spc="-15" dirty="0">
                <a:solidFill>
                  <a:srgbClr val="252525"/>
                </a:solidFill>
                <a:latin typeface="Malgun Gothic"/>
                <a:cs typeface="Malgun Gothic"/>
              </a:rPr>
              <a:t>하로 입력 가능합니다</a:t>
            </a:r>
            <a:r>
              <a:rPr sz="1200" spc="-1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  <a:endParaRPr lang="en-US" sz="1200" spc="-10" dirty="0">
              <a:solidFill>
                <a:srgbClr val="252525"/>
              </a:solidFill>
              <a:latin typeface="Malgun Gothic"/>
              <a:cs typeface="Malgun Gothic"/>
            </a:endParaRP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252525"/>
                </a:solidFill>
                <a:latin typeface="Malgun Gothic"/>
                <a:cs typeface="Malgun Gothic"/>
              </a:rPr>
              <a:t>②</a:t>
            </a:r>
            <a:r>
              <a:rPr 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평가완료된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내역은 조회만 가능합니다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③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접수일시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처리일시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,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검증일시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(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검증내역이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있을경우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),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완료일시를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확인할 수 있습니다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   - </a:t>
            </a:r>
            <a:r>
              <a:rPr lang="ko-KR" altLang="en-US" sz="1200" dirty="0" err="1">
                <a:solidFill>
                  <a:srgbClr val="252525"/>
                </a:solidFill>
                <a:latin typeface="Malgun Gothic"/>
                <a:cs typeface="Malgun Gothic"/>
              </a:rPr>
              <a:t>재요청된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은 하단에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1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차 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SR</a:t>
            </a:r>
            <a:r>
              <a:rPr lang="ko-KR" altLang="en-US" sz="1200" dirty="0">
                <a:solidFill>
                  <a:srgbClr val="252525"/>
                </a:solidFill>
                <a:latin typeface="Malgun Gothic"/>
                <a:cs typeface="Malgun Gothic"/>
              </a:rPr>
              <a:t>요청정보가 표시됩니다</a:t>
            </a:r>
            <a:r>
              <a:rPr lang="en-US" altLang="ko-KR" sz="1200" dirty="0">
                <a:solidFill>
                  <a:srgbClr val="252525"/>
                </a:solidFill>
                <a:latin typeface="Malgun Gothic"/>
                <a:cs typeface="Malgun Gothic"/>
              </a:rPr>
              <a:t>.</a:t>
            </a:r>
          </a:p>
          <a:p>
            <a:pPr marL="33020">
              <a:lnSpc>
                <a:spcPct val="100000"/>
              </a:lnSpc>
              <a:spcBef>
                <a:spcPts val="359"/>
              </a:spcBef>
            </a:pPr>
            <a:endParaRPr lang="en-US" altLang="ko-KR" sz="1200" dirty="0">
              <a:solidFill>
                <a:srgbClr val="252525"/>
              </a:solidFill>
              <a:latin typeface="Malgun Gothic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4653" y="1526721"/>
            <a:ext cx="6404093" cy="43406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7434"/>
          <a:stretch/>
        </p:blipFill>
        <p:spPr>
          <a:xfrm>
            <a:off x="259841" y="1599033"/>
            <a:ext cx="6388905" cy="42683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827" y="7891623"/>
            <a:ext cx="2541598" cy="71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68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</TotalTime>
  <Words>958</Words>
  <Application>Microsoft Office PowerPoint</Application>
  <PresentationFormat>화면 슬라이드 쇼(4:3)</PresentationFormat>
  <Paragraphs>214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Malgun Gothic</vt:lpstr>
      <vt:lpstr>Malgun Gothic</vt:lpstr>
      <vt:lpstr>Batang</vt:lpstr>
      <vt:lpstr>Arial</vt:lpstr>
      <vt:lpstr>Calibri</vt:lpstr>
      <vt:lpstr>Tahoma</vt:lpstr>
      <vt:lpstr>Times New Roman</vt:lpstr>
      <vt:lpstr>Wingdings</vt:lpstr>
      <vt:lpstr>Office Theme</vt:lpstr>
      <vt:lpstr>코레일테크 ITSM</vt:lpstr>
      <vt:lpstr>PowerPoint 프레젠테이션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  <vt:lpstr>코레일테크 ITSM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bingo cvm4</cp:lastModifiedBy>
  <cp:revision>22</cp:revision>
  <dcterms:created xsi:type="dcterms:W3CDTF">2025-12-12T01:21:40Z</dcterms:created>
  <dcterms:modified xsi:type="dcterms:W3CDTF">2025-12-23T07:57:36Z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2025-12-12T00:00:00Z</vt:filetime>
  </property>
  <property fmtid="{D5CDD505-2E9C-101B-9397-08002B2CF9AE}" pid="5" name="Producer">
    <vt:lpwstr>3-Heights(TM) PDF Security Shell 4.8.25.2 (http://www.pdf-tools.com)</vt:lpwstr>
  </property>
</Properties>
</file>